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5d5251ea9b4512" /><Relationship Type="http://schemas.openxmlformats.org/officeDocument/2006/relationships/extended-properties" Target="/docProps/app.xml" Id="R3635b87439954d3a" /><Relationship Type="http://schemas.openxmlformats.org/officeDocument/2006/relationships/officeDocument" Target="/ppt/presentation.xml" Id="Rbfbb7b335a2a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77fb94523844ba"/>
  </p:sldMasterIdLst>
  <p:notesMasterIdLst>
    <p:notesMasterId xmlns:r="http://schemas.openxmlformats.org/officeDocument/2006/relationships" r:id="R171ad99387a0426d"/>
  </p:notesMasterIdLst>
  <p:sldIdLst>
    <p:sldId xmlns:r="http://schemas.openxmlformats.org/officeDocument/2006/relationships" id="256" r:id="R02043c265d7342c2"/>
    <p:sldId xmlns:r="http://schemas.openxmlformats.org/officeDocument/2006/relationships" id="257" r:id="R2d5752a9780949fe"/>
    <p:sldId xmlns:r="http://schemas.openxmlformats.org/officeDocument/2006/relationships" id="258" r:id="Rcc03139287794366"/>
    <p:sldId xmlns:r="http://schemas.openxmlformats.org/officeDocument/2006/relationships" id="259" r:id="Ra8b2ddf99ed24d92"/>
    <p:sldId xmlns:r="http://schemas.openxmlformats.org/officeDocument/2006/relationships" id="260" r:id="R670e76e2bfc34fca"/>
    <p:sldId xmlns:r="http://schemas.openxmlformats.org/officeDocument/2006/relationships" id="261" r:id="R42ce4b498abc4b32"/>
    <p:sldId xmlns:r="http://schemas.openxmlformats.org/officeDocument/2006/relationships" id="262" r:id="Ra62eefb38f814184"/>
    <p:sldId xmlns:r="http://schemas.openxmlformats.org/officeDocument/2006/relationships" id="263" r:id="R717b19ad688d49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30e6460204436" /><Relationship Type="http://schemas.openxmlformats.org/officeDocument/2006/relationships/slideMaster" Target="/ppt/slideMasters/slideMaster1.xml" Id="Rb977fb94523844ba" /><Relationship Type="http://schemas.openxmlformats.org/officeDocument/2006/relationships/notesMaster" Target="/ppt/notesMasters/notesMaster1.xml" Id="R171ad99387a0426d" /><Relationship Type="http://schemas.openxmlformats.org/officeDocument/2006/relationships/presProps" Target="/ppt/presProps.xml" Id="R7d653960f40e4d09" /><Relationship Type="http://schemas.openxmlformats.org/officeDocument/2006/relationships/tableStyles" Target="/ppt/tableStyles.xml" Id="R772afb6a3f344455" /><Relationship Type="http://schemas.openxmlformats.org/officeDocument/2006/relationships/slide" Target="/ppt/slides/slide1.xml" Id="R02043c265d7342c2" /><Relationship Type="http://schemas.openxmlformats.org/officeDocument/2006/relationships/slide" Target="/ppt/slides/slide2.xml" Id="R2d5752a9780949fe" /><Relationship Type="http://schemas.openxmlformats.org/officeDocument/2006/relationships/slide" Target="/ppt/slides/slide3.xml" Id="Rcc03139287794366" /><Relationship Type="http://schemas.openxmlformats.org/officeDocument/2006/relationships/slide" Target="/ppt/slides/slide4.xml" Id="Ra8b2ddf99ed24d92" /><Relationship Type="http://schemas.openxmlformats.org/officeDocument/2006/relationships/slide" Target="/ppt/slides/slide5.xml" Id="R670e76e2bfc34fca" /><Relationship Type="http://schemas.openxmlformats.org/officeDocument/2006/relationships/slide" Target="/ppt/slides/slide6.xml" Id="R42ce4b498abc4b32" /><Relationship Type="http://schemas.openxmlformats.org/officeDocument/2006/relationships/slide" Target="/ppt/slides/slide7.xml" Id="Ra62eefb38f814184" /><Relationship Type="http://schemas.openxmlformats.org/officeDocument/2006/relationships/slide" Target="/ppt/slides/slide8.xml" Id="R717b19ad688d49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cd79fe4e9546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18e1992c6a43af" /><Relationship Type="http://schemas.openxmlformats.org/officeDocument/2006/relationships/notesMaster" Target="/ppt/notesMasters/notesMaster1.xml" Id="Rffd6c5516fb2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3a18de9c004236" /><Relationship Type="http://schemas.openxmlformats.org/officeDocument/2006/relationships/notesMaster" Target="/ppt/notesMasters/notesMaster1.xml" Id="R11f6cd84d3e3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c322d80dd4b5a" /><Relationship Type="http://schemas.openxmlformats.org/officeDocument/2006/relationships/notesMaster" Target="/ppt/notesMasters/notesMaster1.xml" Id="R7410a3180f7e47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0723c375bf4a58" /><Relationship Type="http://schemas.openxmlformats.org/officeDocument/2006/relationships/notesMaster" Target="/ppt/notesMasters/notesMaster1.xml" Id="Re37d9cf498de42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a0ec5a330f4a58" /><Relationship Type="http://schemas.openxmlformats.org/officeDocument/2006/relationships/notesMaster" Target="/ppt/notesMasters/notesMaster1.xml" Id="R01eefc2cd8c045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fafc01940b4060" /><Relationship Type="http://schemas.openxmlformats.org/officeDocument/2006/relationships/notesMaster" Target="/ppt/notesMasters/notesMaster1.xml" Id="R8504af220b3749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ab305790e44e0" /><Relationship Type="http://schemas.openxmlformats.org/officeDocument/2006/relationships/notesMaster" Target="/ppt/notesMasters/notesMaster1.xml" Id="R50f4f9d900324a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325648d1a24e35" /><Relationship Type="http://schemas.openxmlformats.org/officeDocument/2006/relationships/notesMaster" Target="/ppt/notesMasters/notesMaster1.xml" Id="Rfea13406e1bb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StudyPath is an extension of LifeOS. The original application predates this DataNova-focused module; the StudyPath curriculum, recommender, local data workflow, and AI lesson route are the new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This slide states the design problem StudyPath addresses. It does not claim a measured learning deficit or cite population-level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The working prototype contains seven topic checks and a prerequisite graph. The sample profile and any score values in the UI are synthetic and are not evaluation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Formula and thresholds match src/lib/learning/curriculum.ts. This is an explainable rule-based baseline, not a trained collaborative filter or a validated learning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The API accepts a curriculum topic ID only. It derives the topic title and description server-side. It does not receive localStorage records, goals, or scores. The response fields are validated with Zod.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CSV format is implemented in src/lib/learning/csv.ts. The recommendation interface uses semantic labels and fieldsets. This slide avoids claiming support for features outside the StudyPath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This is a prototype status statement based on the implementation. The evaluation plan is proposed work, not completed research. A future study should use consented, anonymized records and an approved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DataNova challenge context: https://datanovathon.com/</a:t>
            </a:r>
          </a:p>
          <a:p xmlns:a="http://schemas.openxmlformats.org/drawingml/2006/main">
            <a:r>
              <a:t>Project implementation and disclosure: https://github.com/thato899/lifeos/tree/feat/datanova-adaptive-learning</a:t>
            </a:r>
          </a:p>
          <a:p xmlns:a="http://schemas.openxmlformats.org/drawingml/2006/main">
            <a:r>
              <a:t>The public LifeOS production URL exposes the demo login. Select Try the demo, then open StudyPath from app navigation. DeepSeek API access is configured on the production project. Code base: https://github.com/thato899/lifeos/tree/feat/datanova-adaptive-learning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57ec9400444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c72d5c76740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5ef256caf44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feb1f83644d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aee4ba7e24a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32f10d81341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97A99E-2F59-4559-AA7E-8C5046076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5DE057-E6DE-4676-B4B4-797E6FA0C3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9EAA63-A4DA-4681-838C-60B2AA5DB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B9AB48-A1B4-49BE-8414-B081CBD21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FD740A-9743-4EF2-8541-CAB3E69FA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7588D6-315A-4629-A3A3-664A6AC545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BE998F-94FD-4940-87CC-8DEE18D81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AA8DCB-CBA1-4D85-AF45-E41B6075F4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798535-3A3D-4ECA-A49D-F2F5B8F90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D15F5D-D863-49C3-92EB-785DB10BD2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b43287edf24482" /><Relationship Type="http://schemas.openxmlformats.org/officeDocument/2006/relationships/slideLayout" Target="/ppt/slideLayouts/slideLayout1.xml" Id="R6eff7e6727064e1a" /><Relationship Type="http://schemas.openxmlformats.org/officeDocument/2006/relationships/slideLayout" Target="/ppt/slideLayouts/slideLayout2.xml" Id="Rf0c04161ce6f4107" /><Relationship Type="http://schemas.openxmlformats.org/officeDocument/2006/relationships/slideLayout" Target="/ppt/slideLayouts/slideLayout3.xml" Id="R414c6782e13d45f3" /><Relationship Type="http://schemas.openxmlformats.org/officeDocument/2006/relationships/slideLayout" Target="/ppt/slideLayouts/slideLayout4.xml" Id="R0945a89b7732449a" /><Relationship Type="http://schemas.openxmlformats.org/officeDocument/2006/relationships/slideLayout" Target="/ppt/slideLayouts/slideLayout5.xml" Id="R69aec688fdad46c0" /><Relationship Type="http://schemas.openxmlformats.org/officeDocument/2006/relationships/slideLayout" Target="/ppt/slideLayouts/slideLayout6.xml" Id="R0ea044e8de7b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ff7e6727064e1a"/>
    <p:sldLayoutId xmlns:r="http://schemas.openxmlformats.org/officeDocument/2006/relationships" id="2147483650" r:id="Rf0c04161ce6f4107"/>
    <p:sldLayoutId xmlns:r="http://schemas.openxmlformats.org/officeDocument/2006/relationships" id="2147483651" r:id="R414c6782e13d45f3"/>
    <p:sldLayoutId xmlns:r="http://schemas.openxmlformats.org/officeDocument/2006/relationships" id="2147483652" r:id="R0945a89b7732449a"/>
    <p:sldLayoutId xmlns:r="http://schemas.openxmlformats.org/officeDocument/2006/relationships" id="2147483653" r:id="R69aec688fdad46c0"/>
    <p:sldLayoutId xmlns:r="http://schemas.openxmlformats.org/officeDocument/2006/relationships" id="2147483654" r:id="R0ea044e8de7b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91b4c057f414d" /><Relationship Type="http://schemas.openxmlformats.org/officeDocument/2006/relationships/notesSlide" Target="/ppt/notesSlides/notesSlide1.xml" Id="Rd33bbb144fcf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c1f3a0c394f99" /><Relationship Type="http://schemas.openxmlformats.org/officeDocument/2006/relationships/notesSlide" Target="/ppt/notesSlides/notesSlide2.xml" Id="R5848b95f64dc46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431f889e74deb" /><Relationship Type="http://schemas.openxmlformats.org/officeDocument/2006/relationships/notesSlide" Target="/ppt/notesSlides/notesSlide3.xml" Id="R8354524064f649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b0e61ed444e50" /><Relationship Type="http://schemas.openxmlformats.org/officeDocument/2006/relationships/notesSlide" Target="/ppt/notesSlides/notesSlide4.xml" Id="Rbe9154f5a5f741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a1149272349bd" /><Relationship Type="http://schemas.openxmlformats.org/officeDocument/2006/relationships/notesSlide" Target="/ppt/notesSlides/notesSlide5.xml" Id="R72de1990b20d47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16ed5c90d4da0" /><Relationship Type="http://schemas.openxmlformats.org/officeDocument/2006/relationships/notesSlide" Target="/ppt/notesSlides/notesSlide6.xml" Id="Rafec8f1efe6d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3b4e9a864453b" /><Relationship Type="http://schemas.openxmlformats.org/officeDocument/2006/relationships/notesSlide" Target="/ppt/notesSlides/notesSlide7.xml" Id="R20562333fc4e4f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4e312357e4b6a" /><Relationship Type="http://schemas.openxmlformats.org/officeDocument/2006/relationships/hyperlink" Target="https://lifeos-nine-neon.vercel.app/login" TargetMode="External" Id="Reca608da37f2444b" /><Relationship Type="http://schemas.openxmlformats.org/officeDocument/2006/relationships/notesSlide" Target="/ppt/notesSlides/notesSlide8.xml" Id="R9db01faabe654c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80AB5-CE15-41A1-A7FF-CB5DA4F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F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ATANOVA 2026  /  EDUCATION">
            <a:extLst xmlns:a="http://schemas.openxmlformats.org/drawingml/2006/main">
              <a:ext uri="{FF2B5EF4-FFF2-40B4-BE49-F238E27FC236}">
                <a16:creationId xmlns:a16="http://schemas.microsoft.com/office/drawing/2014/main" id="{5C5C781B-BDF5-4ABD-9A79-A2D81F6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F06A"/>
                </a:solidFill>
                <a:latin typeface="Arial"/>
                <a:ea typeface="Arial"/>
                <a:cs typeface="Arial"/>
              </a:rPr>
              <a:t>DATANOVA 2026  /  EDUCATION</a:t>
            </a:r>
          </a:p>
        </p:txBody>
      </p:sp>
      <p:sp>
        <p:nvSpPr>
          <p:cNvPr id="3" name="StudyPath">
            <a:extLst xmlns:a="http://schemas.openxmlformats.org/drawingml/2006/main">
              <a:ext uri="{FF2B5EF4-FFF2-40B4-BE49-F238E27FC236}">
                <a16:creationId xmlns:a16="http://schemas.microsoft.com/office/drawing/2014/main" id="{B6875EAE-EAE9-4DA6-AB38-C0E165E2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StudyPath</a:t>
            </a:r>
          </a:p>
        </p:txBody>
      </p:sp>
      <p:sp>
        <p:nvSpPr>
          <p:cNvPr id="4" name="A learning path shaped&#10;by your practice ">
            <a:extLst xmlns:a="http://schemas.openxmlformats.org/drawingml/2006/main">
              <a:ext uri="{FF2B5EF4-FFF2-40B4-BE49-F238E27FC236}">
                <a16:creationId xmlns:a16="http://schemas.microsoft.com/office/drawing/2014/main" id="{E4CC78A4-BDF8-43E3-953B-F6808041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239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learning path shaped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by your practice data</a:t>
            </a:r>
          </a:p>
        </p:txBody>
      </p:sp>
      <p:sp>
        <p:nvSpPr>
          <p:cNvPr id="5" name="DN-ED-01  /  Adaptive Learning Path Reco">
            <a:extLst xmlns:a="http://schemas.openxmlformats.org/drawingml/2006/main">
              <a:ext uri="{FF2B5EF4-FFF2-40B4-BE49-F238E27FC236}">
                <a16:creationId xmlns:a16="http://schemas.microsoft.com/office/drawing/2014/main" id="{A314EC48-D4B2-4E23-9EF1-0756932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DECE3"/>
                </a:solidFill>
                <a:latin typeface="Arial"/>
                <a:ea typeface="Arial"/>
                <a:cs typeface="Arial"/>
              </a:rPr>
              <a:t>DN-ED-01  /  Adaptive Learning Path Recommendation</a:t>
            </a:r>
          </a:p>
        </p:txBody>
      </p:sp>
      <p:sp>
        <p:nvSpPr>
          <p:cNvPr id="6" name="A DataNova-focused module built on the e">
            <a:extLst xmlns:a="http://schemas.openxmlformats.org/drawingml/2006/main">
              <a:ext uri="{FF2B5EF4-FFF2-40B4-BE49-F238E27FC236}">
                <a16:creationId xmlns:a16="http://schemas.microsoft.com/office/drawing/2014/main" id="{C945D830-5758-47CD-8160-DF32780A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0D2"/>
                </a:solidFill>
                <a:latin typeface="Arial"/>
                <a:ea typeface="Arial"/>
                <a:cs typeface="Arial"/>
              </a:rPr>
              <a:t>A DataNova-focused module built on the existing LifeOS codebase.</a:t>
            </a:r>
          </a:p>
        </p:txBody>
      </p:sp>
      <p:sp>
        <p:nvSpPr>
          <p:cNvPr id="7" name="PROTOTYPE  /  SYNTHETIC SAMPLE PROFILE  ">
            <a:extLst xmlns:a="http://schemas.openxmlformats.org/drawingml/2006/main">
              <a:ext uri="{FF2B5EF4-FFF2-40B4-BE49-F238E27FC236}">
                <a16:creationId xmlns:a16="http://schemas.microsoft.com/office/drawing/2014/main" id="{04E6CA87-926D-40D4-BF79-EEFAC8B2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4F06A"/>
                </a:solidFill>
                <a:latin typeface="Arial"/>
                <a:ea typeface="Arial"/>
                <a:cs typeface="Arial"/>
              </a:rPr>
              <a:t>PROTOTYPE  /  SYNTHETIC SAMPLE PROFILE  /  NO OUTCOME CLAIMS</a:t>
            </a:r>
          </a:p>
        </p:txBody>
      </p:sp>
    </p:spTree>
    <p:extLst>
      <p:ext uri="{BB962C8B-B14F-4D97-AF65-F5344CB8AC3E}">
        <p14:creationId xmlns:p14="http://schemas.microsoft.com/office/powerpoint/2010/main" val="1387399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OBLEM">
            <a:extLst xmlns:a="http://schemas.openxmlformats.org/drawingml/2006/main">
              <a:ext uri="{FF2B5EF4-FFF2-40B4-BE49-F238E27FC236}">
                <a16:creationId xmlns:a16="http://schemas.microsoft.com/office/drawing/2014/main" id="{0008FD4E-6D81-465B-B384-56A7A850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The next lesson depends on what a learne">
            <a:extLst xmlns:a="http://schemas.openxmlformats.org/drawingml/2006/main">
              <a:ext uri="{FF2B5EF4-FFF2-40B4-BE49-F238E27FC236}">
                <a16:creationId xmlns:a16="http://schemas.microsoft.com/office/drawing/2014/main" id="{AA992189-28B4-4A34-A927-F8EF60B9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061"/>
          </a:bodyPr>
          <a:lstStyle xmlns:a="http://schemas.openxmlformats.org/drawingml/2006/main">
            <a:def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The next lesson depends on what a learner already knows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ABD87-7135-4F79-A569-D6C8B47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Nova 2026 / StudyPath / 02">
            <a:extLst xmlns:a="http://schemas.openxmlformats.org/drawingml/2006/main">
              <a:ext uri="{FF2B5EF4-FFF2-40B4-BE49-F238E27FC236}">
                <a16:creationId xmlns:a16="http://schemas.microsoft.com/office/drawing/2014/main" id="{232A66FA-C4D0-443E-92DA-13FD856C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DataNova 2026 / StudyPath / 02</a:t>
            </a:r>
          </a:p>
        </p:txBody>
      </p:sp>
      <p:sp>
        <p:nvSpPr>
          <p:cNvPr id="5" name="A fixed sequence can spend a learner’s l">
            <a:extLst xmlns:a="http://schemas.openxmlformats.org/drawingml/2006/main">
              <a:ext uri="{FF2B5EF4-FFF2-40B4-BE49-F238E27FC236}">
                <a16:creationId xmlns:a16="http://schemas.microsoft.com/office/drawing/2014/main" id="{903D0FB7-12A6-4D67-9FC8-DD54F449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191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A fixed sequence can spend a learner’s limited study time on skills they already understand, while missing the concepts that need another pass.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6BFF0-D3B1-4473-8D52-7D10E265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8B983368-12EE-48A8-A8E0-AFBE75B1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Different starting points">
            <a:extLst xmlns:a="http://schemas.openxmlformats.org/drawingml/2006/main">
              <a:ext uri="{FF2B5EF4-FFF2-40B4-BE49-F238E27FC236}">
                <a16:creationId xmlns:a16="http://schemas.microsoft.com/office/drawing/2014/main" id="{DFFBFA02-9CC3-42AA-AE78-1DDC0A0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Different starting points</a:t>
            </a:r>
          </a:p>
        </p:txBody>
      </p:sp>
      <p:sp>
        <p:nvSpPr>
          <p:cNvPr id="9" name="Prerequisite knowledge varies across lea">
            <a:extLst xmlns:a="http://schemas.openxmlformats.org/drawingml/2006/main">
              <a:ext uri="{FF2B5EF4-FFF2-40B4-BE49-F238E27FC236}">
                <a16:creationId xmlns:a16="http://schemas.microsoft.com/office/drawing/2014/main" id="{FCE5E9EC-B37B-4BF1-A24D-A5560291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Prerequisite knowledge varies across learners.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769E6-3381-4CD7-BDD5-BB08FECF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81375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5E46A070-FECC-48E8-8419-123EF7D1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57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Uneven confidence">
            <a:extLst xmlns:a="http://schemas.openxmlformats.org/drawingml/2006/main">
              <a:ext uri="{FF2B5EF4-FFF2-40B4-BE49-F238E27FC236}">
                <a16:creationId xmlns:a16="http://schemas.microsoft.com/office/drawing/2014/main" id="{E56EBBB7-4523-4D32-B684-86FC6801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Uneven confidence</a:t>
            </a:r>
          </a:p>
        </p:txBody>
      </p:sp>
      <p:sp>
        <p:nvSpPr>
          <p:cNvPr id="13" name="A single quiz score can hide gaps and st">
            <a:extLst xmlns:a="http://schemas.openxmlformats.org/drawingml/2006/main">
              <a:ext uri="{FF2B5EF4-FFF2-40B4-BE49-F238E27FC236}">
                <a16:creationId xmlns:a16="http://schemas.microsoft.com/office/drawing/2014/main" id="{B7596C7B-05DA-4BC0-83AE-3F49615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434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A single quiz score can hide gaps and stale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B4D2E-3998-4132-BEC1-B2991C09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A852D3AF-BBA1-4110-A5D8-AE8FD49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Limited time">
            <a:extLst xmlns:a="http://schemas.openxmlformats.org/drawingml/2006/main">
              <a:ext uri="{FF2B5EF4-FFF2-40B4-BE49-F238E27FC236}">
                <a16:creationId xmlns:a16="http://schemas.microsoft.com/office/drawing/2014/main" id="{A341D057-7D5D-4E00-86C9-F481C19D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Limited time</a:t>
            </a:r>
          </a:p>
        </p:txBody>
      </p:sp>
      <p:sp>
        <p:nvSpPr>
          <p:cNvPr id="17" name="A useful plan must fit the learner’s rea">
            <a:extLst xmlns:a="http://schemas.openxmlformats.org/drawingml/2006/main">
              <a:ext uri="{FF2B5EF4-FFF2-40B4-BE49-F238E27FC236}">
                <a16:creationId xmlns:a16="http://schemas.microsoft.com/office/drawing/2014/main" id="{6B13BF1E-72C5-4F83-A3FE-55C53D2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A useful plan must fit the learner’s real study rhythm.</a:t>
            </a:r>
          </a:p>
        </p:txBody>
      </p:sp>
      <p:sp>
        <p:nvSpPr>
          <p:cNvPr id="18" name="Target: help a learner choose a reasonab">
            <a:extLst xmlns:a="http://schemas.openxmlformats.org/drawingml/2006/main">
              <a:ext uri="{FF2B5EF4-FFF2-40B4-BE49-F238E27FC236}">
                <a16:creationId xmlns:a16="http://schemas.microsoft.com/office/drawing/2014/main" id="{9671DB16-133F-4E62-BE03-534AC0B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Target: help a learner choose a reasonable next skill and explain why it comes next.</a:t>
            </a:r>
          </a:p>
        </p:txBody>
      </p:sp>
    </p:spTree>
    <p:extLst>
      <p:ext uri="{BB962C8B-B14F-4D97-AF65-F5344CB8AC3E}">
        <p14:creationId xmlns:p14="http://schemas.microsoft.com/office/powerpoint/2010/main" val="1745404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OLUTION">
            <a:extLst xmlns:a="http://schemas.openxmlformats.org/drawingml/2006/main">
              <a:ext uri="{FF2B5EF4-FFF2-40B4-BE49-F238E27FC236}">
                <a16:creationId xmlns:a16="http://schemas.microsoft.com/office/drawing/2014/main" id="{AF8FB295-A141-4FB5-9ADE-52F97451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2" name="StudyPath turns check-ins into a practic">
            <a:extLst xmlns:a="http://schemas.openxmlformats.org/drawingml/2006/main">
              <a:ext uri="{FF2B5EF4-FFF2-40B4-BE49-F238E27FC236}">
                <a16:creationId xmlns:a16="http://schemas.microsoft.com/office/drawing/2014/main" id="{64AA4B99-E21A-4882-9C6B-7A01A3C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19"/>
          </a:bodyPr>
          <a:lstStyle xmlns:a="http://schemas.openxmlformats.org/drawingml/2006/main">
            <a:def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StudyPath turns check-ins into a practical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CED3E-5C84-4373-A4D6-F4D512B0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Nova 2026 / StudyPath / 03">
            <a:extLst xmlns:a="http://schemas.openxmlformats.org/drawingml/2006/main">
              <a:ext uri="{FF2B5EF4-FFF2-40B4-BE49-F238E27FC236}">
                <a16:creationId xmlns:a16="http://schemas.microsoft.com/office/drawing/2014/main" id="{8B4E5AB1-CD2F-45BC-9BEC-11D1515B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DataNova 2026 / StudyPath / 03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8DDC24B-7EC6-49BE-A720-01BB2F1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88A66-2AA1-4D4C-AEB0-B4D9B26C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t a goal">
            <a:extLst xmlns:a="http://schemas.openxmlformats.org/drawingml/2006/main">
              <a:ext uri="{FF2B5EF4-FFF2-40B4-BE49-F238E27FC236}">
                <a16:creationId xmlns:a16="http://schemas.microsoft.com/office/drawing/2014/main" id="{80E880F5-547A-4213-85EE-72A581B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Set a goal</a:t>
            </a:r>
          </a:p>
        </p:txBody>
      </p:sp>
      <p:sp>
        <p:nvSpPr>
          <p:cNvPr id="8" name="Choose a data skill and weekly study bud">
            <a:extLst xmlns:a="http://schemas.openxmlformats.org/drawingml/2006/main">
              <a:ext uri="{FF2B5EF4-FFF2-40B4-BE49-F238E27FC236}">
                <a16:creationId xmlns:a16="http://schemas.microsoft.com/office/drawing/2014/main" id="{91711402-B43E-49ED-9C1B-BF66621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Choose a data skill and weekly study budget.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8EFFA1DC-D06F-41BE-A86F-6567BED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F036C-7485-4DEA-92F4-B7B0CBA0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95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ck skills">
            <a:extLst xmlns:a="http://schemas.openxmlformats.org/drawingml/2006/main">
              <a:ext uri="{FF2B5EF4-FFF2-40B4-BE49-F238E27FC236}">
                <a16:creationId xmlns:a16="http://schemas.microsoft.com/office/drawing/2014/main" id="{7AA5C7F9-A23E-4D33-B55A-A6CE971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Check skills</a:t>
            </a:r>
          </a:p>
        </p:txBody>
      </p:sp>
      <p:sp>
        <p:nvSpPr>
          <p:cNvPr id="12" name="Answer short Python and data questions.">
            <a:extLst xmlns:a="http://schemas.openxmlformats.org/drawingml/2006/main">
              <a:ext uri="{FF2B5EF4-FFF2-40B4-BE49-F238E27FC236}">
                <a16:creationId xmlns:a16="http://schemas.microsoft.com/office/drawing/2014/main" id="{F631743C-AB1C-420E-876C-8A9423B8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Answer short Python and data questions.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F789871B-EA58-4A0B-86CE-4D3EAA5C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46846-03AB-4A56-9B43-F3972F58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ild the path">
            <a:extLst xmlns:a="http://schemas.openxmlformats.org/drawingml/2006/main">
              <a:ext uri="{FF2B5EF4-FFF2-40B4-BE49-F238E27FC236}">
                <a16:creationId xmlns:a16="http://schemas.microsoft.com/office/drawing/2014/main" id="{F1444D4D-73A2-438B-8A99-44294768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Build the path</a:t>
            </a:r>
          </a:p>
        </p:txBody>
      </p:sp>
      <p:sp>
        <p:nvSpPr>
          <p:cNvPr id="16" name="Order gaps while respecting prerequisite">
            <a:extLst xmlns:a="http://schemas.openxmlformats.org/drawingml/2006/main">
              <a:ext uri="{FF2B5EF4-FFF2-40B4-BE49-F238E27FC236}">
                <a16:creationId xmlns:a16="http://schemas.microsoft.com/office/drawing/2014/main" id="{40759BE2-FE32-46E7-95F7-AC499F99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Order gaps while respecting prerequisites.</a:t>
            </a:r>
          </a:p>
        </p:txBody>
      </p:sp>
      <p:sp>
        <p:nvSpPr>
          <p:cNvPr id="17" name="04">
            <a:extLst xmlns:a="http://schemas.openxmlformats.org/drawingml/2006/main">
              <a:ext uri="{FF2B5EF4-FFF2-40B4-BE49-F238E27FC236}">
                <a16:creationId xmlns:a16="http://schemas.microsoft.com/office/drawing/2014/main" id="{E0516CB4-1B5E-4F08-9132-4FAC1A20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03B78-FFEB-42F8-B822-604F3AE9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actice next">
            <a:extLst xmlns:a="http://schemas.openxmlformats.org/drawingml/2006/main">
              <a:ext uri="{FF2B5EF4-FFF2-40B4-BE49-F238E27FC236}">
                <a16:creationId xmlns:a16="http://schemas.microsoft.com/office/drawing/2014/main" id="{8A6F9B95-9E88-42F3-BB88-A828A810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Practice next</a:t>
            </a:r>
          </a:p>
        </p:txBody>
      </p:sp>
      <p:sp>
        <p:nvSpPr>
          <p:cNvPr id="20" name="See the reason, mastery estimate, and ti">
            <a:extLst xmlns:a="http://schemas.openxmlformats.org/drawingml/2006/main">
              <a:ext uri="{FF2B5EF4-FFF2-40B4-BE49-F238E27FC236}">
                <a16:creationId xmlns:a16="http://schemas.microsoft.com/office/drawing/2014/main" id="{39ABD4E1-BCAA-468B-AF10-4F5D1B1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045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See the reason, mastery estimate, and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BE5DE-8D85-4947-9257-9447451A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mo profile">
            <a:extLst xmlns:a="http://schemas.openxmlformats.org/drawingml/2006/main">
              <a:ext uri="{FF2B5EF4-FFF2-40B4-BE49-F238E27FC236}">
                <a16:creationId xmlns:a16="http://schemas.microsoft.com/office/drawing/2014/main" id="{1FCCC2FD-F7A1-47A2-AD0E-4345F9FC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Demo profile</a:t>
            </a:r>
          </a:p>
        </p:txBody>
      </p:sp>
      <p:sp>
        <p:nvSpPr>
          <p:cNvPr id="23" name="Goal: data story   /   100 study minutes">
            <a:extLst xmlns:a="http://schemas.openxmlformats.org/drawingml/2006/main">
              <a:ext uri="{FF2B5EF4-FFF2-40B4-BE49-F238E27FC236}">
                <a16:creationId xmlns:a16="http://schemas.microsoft.com/office/drawing/2014/main" id="{9A08F6FE-DB9E-4010-B363-9DADABE2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Goal: data story   /   100 study minutes per week   /   25 minute sessions</a:t>
            </a:r>
          </a:p>
        </p:txBody>
      </p:sp>
      <p:sp>
        <p:nvSpPr>
          <p:cNvPr id="24" name="The profile shown in the demo is synthet">
            <a:extLst xmlns:a="http://schemas.openxmlformats.org/drawingml/2006/main">
              <a:ext uri="{FF2B5EF4-FFF2-40B4-BE49-F238E27FC236}">
                <a16:creationId xmlns:a16="http://schemas.microsoft.com/office/drawing/2014/main" id="{657BB547-A66C-4C2F-AD40-8F4EE16C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The profile shown in the demo is synthetic.</a:t>
            </a:r>
          </a:p>
        </p:txBody>
      </p:sp>
    </p:spTree>
    <p:extLst>
      <p:ext uri="{BB962C8B-B14F-4D97-AF65-F5344CB8AC3E}">
        <p14:creationId xmlns:p14="http://schemas.microsoft.com/office/powerpoint/2010/main" val="218738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ETHOD">
            <a:extLst xmlns:a="http://schemas.openxmlformats.org/drawingml/2006/main">
              <a:ext uri="{FF2B5EF4-FFF2-40B4-BE49-F238E27FC236}">
                <a16:creationId xmlns:a16="http://schemas.microsoft.com/office/drawing/2014/main" id="{3723C48E-5D2E-4C73-A3F1-5A309E2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he recommender is deterministic and exp">
            <a:extLst xmlns:a="http://schemas.openxmlformats.org/drawingml/2006/main">
              <a:ext uri="{FF2B5EF4-FFF2-40B4-BE49-F238E27FC236}">
                <a16:creationId xmlns:a16="http://schemas.microsoft.com/office/drawing/2014/main" id="{5649E816-9553-4007-9F2F-2B7B5B0B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33"/>
          </a:bodyPr>
          <a:lstStyle xmlns:a="http://schemas.openxmlformats.org/drawingml/2006/main">
            <a:def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The recommender is deterministic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79BA0-6D48-4A4B-BBA4-6A922E07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Nova 2026 / StudyPath / 04">
            <a:extLst xmlns:a="http://schemas.openxmlformats.org/drawingml/2006/main">
              <a:ext uri="{FF2B5EF4-FFF2-40B4-BE49-F238E27FC236}">
                <a16:creationId xmlns:a16="http://schemas.microsoft.com/office/drawing/2014/main" id="{7B9E9A5D-BD8D-49F0-8A7D-27714BE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DataNova 2026 / StudyPath / 04</a:t>
            </a:r>
          </a:p>
        </p:txBody>
      </p:sp>
      <p:sp>
        <p:nvSpPr>
          <p:cNvPr id="5" name="Recency-weighted mastery">
            <a:extLst xmlns:a="http://schemas.openxmlformats.org/drawingml/2006/main">
              <a:ext uri="{FF2B5EF4-FFF2-40B4-BE49-F238E27FC236}">
                <a16:creationId xmlns:a16="http://schemas.microsoft.com/office/drawing/2014/main" id="{63740C17-C7B4-4889-8F04-E3A2507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Recency-weighted mastery</a:t>
            </a:r>
          </a:p>
        </p:txBody>
      </p:sp>
      <p:sp>
        <p:nvSpPr>
          <p:cNvPr id="6" name="M = Σ(score × e^(−days / 21))&#10;      / Σ(">
            <a:extLst xmlns:a="http://schemas.openxmlformats.org/drawingml/2006/main">
              <a:ext uri="{FF2B5EF4-FFF2-40B4-BE49-F238E27FC236}">
                <a16:creationId xmlns:a16="http://schemas.microsoft.com/office/drawing/2014/main" id="{5EA06DA5-F9CC-404E-A517-992053D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M = Σ(score × e^(−days / 21))</a:t>
            </a:r>
          </a:p>
          <a:p xmlns:a="http://schemas.openxmlformats.org/drawingml/2006/main">
            <a:pPr algn="l">
              <a:defRPr sz="217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      / Σ(e^(−days / 21))</a:t>
            </a:r>
          </a:p>
        </p:txBody>
      </p:sp>
      <p:sp>
        <p:nvSpPr>
          <p:cNvPr id="7" name="A 21-day decay time constant gives recen">
            <a:extLst xmlns:a="http://schemas.openxmlformats.org/drawingml/2006/main">
              <a:ext uri="{FF2B5EF4-FFF2-40B4-BE49-F238E27FC236}">
                <a16:creationId xmlns:a16="http://schemas.microsoft.com/office/drawing/2014/main" id="{1BADC21C-A511-44E9-9103-A909A97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A 21-day decay time constant gives recent check-ins more influence.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660DA-ACF1-4FEA-BAA7-A3F2044C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ority uses four signals">
            <a:extLst xmlns:a="http://schemas.openxmlformats.org/drawingml/2006/main">
              <a:ext uri="{FF2B5EF4-FFF2-40B4-BE49-F238E27FC236}">
                <a16:creationId xmlns:a16="http://schemas.microsoft.com/office/drawing/2014/main" id="{3A09A404-3A8A-4123-911C-73992AE7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Priority uses four signals</a:t>
            </a:r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5CF14C35-BD92-4B01-8849-859A765D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Mastery gap">
            <a:extLst xmlns:a="http://schemas.openxmlformats.org/drawingml/2006/main">
              <a:ext uri="{FF2B5EF4-FFF2-40B4-BE49-F238E27FC236}">
                <a16:creationId xmlns:a16="http://schemas.microsoft.com/office/drawing/2014/main" id="{1457838D-5B2E-42A5-89D9-656B83BD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47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Mastery gap</a:t>
            </a:r>
          </a:p>
        </p:txBody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80D844B1-614C-4AAD-889A-157AC8A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ractice recency">
            <a:extLst xmlns:a="http://schemas.openxmlformats.org/drawingml/2006/main">
              <a:ext uri="{FF2B5EF4-FFF2-40B4-BE49-F238E27FC236}">
                <a16:creationId xmlns:a16="http://schemas.microsoft.com/office/drawing/2014/main" id="{BE8A4BFC-BDA0-46C4-956A-FB5629C9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Practice recency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63C381F6-2BEC-4891-B42D-4E0449A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Goal relevance">
            <a:extLst xmlns:a="http://schemas.openxmlformats.org/drawingml/2006/main">
              <a:ext uri="{FF2B5EF4-FFF2-40B4-BE49-F238E27FC236}">
                <a16:creationId xmlns:a16="http://schemas.microsoft.com/office/drawing/2014/main" id="{86600085-9C9D-41B2-B8A2-2BDCC1B7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Goal relevance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0321BB29-95FD-43FB-AD9B-F6989C7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Session fit">
            <a:extLst xmlns:a="http://schemas.openxmlformats.org/drawingml/2006/main">
              <a:ext uri="{FF2B5EF4-FFF2-40B4-BE49-F238E27FC236}">
                <a16:creationId xmlns:a16="http://schemas.microsoft.com/office/drawing/2014/main" id="{616811E3-81F3-4E8F-8C3B-F484EEAC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Session fit</a:t>
            </a:r>
          </a:p>
        </p:txBody>
      </p:sp>
      <p:sp>
        <p:nvSpPr>
          <p:cNvPr id="18" name="Freshness decays over 45 days. A prerequ">
            <a:extLst xmlns:a="http://schemas.openxmlformats.org/drawingml/2006/main">
              <a:ext uri="{FF2B5EF4-FFF2-40B4-BE49-F238E27FC236}">
                <a16:creationId xmlns:a16="http://schemas.microsoft.com/office/drawing/2014/main" id="{3B4E41F9-8224-481D-A296-409A2B4D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Freshness decays over 45 days. A prerequisite graph orders required skills first. Skills at 82% mastery may be skipped unless they are the goal.</a:t>
            </a:r>
          </a:p>
        </p:txBody>
      </p:sp>
    </p:spTree>
    <p:extLst>
      <p:ext uri="{BB962C8B-B14F-4D97-AF65-F5344CB8AC3E}">
        <p14:creationId xmlns:p14="http://schemas.microsoft.com/office/powerpoint/2010/main" val="3225154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ENERATIVE AI / RESPONSIBLE USE">
            <a:extLst xmlns:a="http://schemas.openxmlformats.org/drawingml/2006/main">
              <a:ext uri="{FF2B5EF4-FFF2-40B4-BE49-F238E27FC236}">
                <a16:creationId xmlns:a16="http://schemas.microsoft.com/office/drawing/2014/main" id="{FFC68E90-F9CC-4BC7-8763-23976BF4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GENERATIVE AI / RESPONSIBLE USE</a:t>
            </a:r>
          </a:p>
        </p:txBody>
      </p:sp>
      <p:sp>
        <p:nvSpPr>
          <p:cNvPr id="2" name="DeepSeek creates the lesson, not the lea">
            <a:extLst xmlns:a="http://schemas.openxmlformats.org/drawingml/2006/main">
              <a:ext uri="{FF2B5EF4-FFF2-40B4-BE49-F238E27FC236}">
                <a16:creationId xmlns:a16="http://schemas.microsoft.com/office/drawing/2014/main" id="{7AEF40A3-D6E8-40EA-8B2E-1688EFBF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33"/>
          </a:bodyPr>
          <a:lstStyle xmlns:a="http://schemas.openxmlformats.org/drawingml/2006/main">
            <a:def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DeepSeek creates the lesson, not the learner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237C5-3425-4D7C-82D8-3761ED6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Nova 2026 / StudyPath / 05">
            <a:extLst xmlns:a="http://schemas.openxmlformats.org/drawingml/2006/main">
              <a:ext uri="{FF2B5EF4-FFF2-40B4-BE49-F238E27FC236}">
                <a16:creationId xmlns:a16="http://schemas.microsoft.com/office/drawing/2014/main" id="{9E3FD070-ACB9-4228-B5A6-0372D973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DataNova 2026 / StudyPath / 05</a:t>
            </a:r>
          </a:p>
        </p:txBody>
      </p:sp>
      <p:sp>
        <p:nvSpPr>
          <p:cNvPr id="5" name="StudyPath keeps the recommendation local">
            <a:extLst xmlns:a="http://schemas.openxmlformats.org/drawingml/2006/main">
              <a:ext uri="{FF2B5EF4-FFF2-40B4-BE49-F238E27FC236}">
                <a16:creationId xmlns:a16="http://schemas.microsoft.com/office/drawing/2014/main" id="{B5AB2674-2FD7-422A-A40F-D36AF04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StudyPath keeps the recommendation local and uses AI only when a learner asks for a short lesson on the next skill.</a:t>
            </a:r>
          </a:p>
        </p:txBody>
      </p:sp>
      <p:sp>
        <p:nvSpPr>
          <p:cNvPr id="6" name="Sent to DeepSeek">
            <a:extLst xmlns:a="http://schemas.openxmlformats.org/drawingml/2006/main">
              <a:ext uri="{FF2B5EF4-FFF2-40B4-BE49-F238E27FC236}">
                <a16:creationId xmlns:a16="http://schemas.microsoft.com/office/drawing/2014/main" id="{7EC07BA4-A7F7-40CF-9FBF-611DBB9C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Sent to DeepSeek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FC5D50FD-61B0-4DF0-81A1-74CBD57D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Selected topic title">
            <a:extLst xmlns:a="http://schemas.openxmlformats.org/drawingml/2006/main">
              <a:ext uri="{FF2B5EF4-FFF2-40B4-BE49-F238E27FC236}">
                <a16:creationId xmlns:a16="http://schemas.microsoft.com/office/drawing/2014/main" id="{8154845C-93E6-4A61-9720-304C1B45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Selected topic title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3A5C85EA-9D5F-4AC0-93D6-F5849AB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opic description">
            <a:extLst xmlns:a="http://schemas.openxmlformats.org/drawingml/2006/main">
              <a:ext uri="{FF2B5EF4-FFF2-40B4-BE49-F238E27FC236}">
                <a16:creationId xmlns:a16="http://schemas.microsoft.com/office/drawing/2014/main" id="{9B0130D9-037F-4899-BC1E-9966906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Topic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44148-DB7E-4BAE-81BD-2514D51B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Kept in the browser">
            <a:extLst xmlns:a="http://schemas.openxmlformats.org/drawingml/2006/main">
              <a:ext uri="{FF2B5EF4-FFF2-40B4-BE49-F238E27FC236}">
                <a16:creationId xmlns:a16="http://schemas.microsoft.com/office/drawing/2014/main" id="{FA3573CC-B2D2-4676-8B9B-11D62592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24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Kept in the browser</a:t>
            </a:r>
          </a:p>
        </p:txBody>
      </p:sp>
      <p:sp>
        <p:nvSpPr>
          <p:cNvPr id="13" name="01">
            <a:extLst xmlns:a="http://schemas.openxmlformats.org/drawingml/2006/main">
              <a:ext uri="{FF2B5EF4-FFF2-40B4-BE49-F238E27FC236}">
                <a16:creationId xmlns:a16="http://schemas.microsoft.com/office/drawing/2014/main" id="{A599B6B9-0FE2-47FF-837B-476A73F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Check-in scores">
            <a:extLst xmlns:a="http://schemas.openxmlformats.org/drawingml/2006/main">
              <a:ext uri="{FF2B5EF4-FFF2-40B4-BE49-F238E27FC236}">
                <a16:creationId xmlns:a16="http://schemas.microsoft.com/office/drawing/2014/main" id="{8D9223C4-FD1A-44FF-8789-66AF6A6C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81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Check-in scores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397B8E80-ED7A-4551-8BD6-96638381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Goals and schedule">
            <a:extLst xmlns:a="http://schemas.openxmlformats.org/drawingml/2006/main">
              <a:ext uri="{FF2B5EF4-FFF2-40B4-BE49-F238E27FC236}">
                <a16:creationId xmlns:a16="http://schemas.microsoft.com/office/drawing/2014/main" id="{59F74C63-9FD0-48A0-8335-3B8F24B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38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Goals and schedule</a:t>
            </a:r>
          </a:p>
        </p:txBody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35801E27-B13B-4AB2-BFC1-0CC8C1DD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14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CSV learning history">
            <a:extLst xmlns:a="http://schemas.openxmlformats.org/drawingml/2006/main">
              <a:ext uri="{FF2B5EF4-FFF2-40B4-BE49-F238E27FC236}">
                <a16:creationId xmlns:a16="http://schemas.microsoft.com/office/drawing/2014/main" id="{40B0CEDD-C975-447D-A0C9-F885515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CSV learning history</a:t>
            </a:r>
          </a:p>
        </p:txBody>
      </p:sp>
      <p:sp>
        <p:nvSpPr>
          <p:cNvPr id="19" name="Server-held API key  /  authenticated en">
            <a:extLst xmlns:a="http://schemas.openxmlformats.org/drawingml/2006/main">
              <a:ext uri="{FF2B5EF4-FFF2-40B4-BE49-F238E27FC236}">
                <a16:creationId xmlns:a16="http://schemas.microsoft.com/office/drawing/2014/main" id="{0FAC8653-180F-4524-B577-D7379DE7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Server-held API key  /  authenticated endpoint  /  rate limited  /  response schema checked</a:t>
            </a:r>
          </a:p>
        </p:txBody>
      </p:sp>
    </p:spTree>
    <p:extLst>
      <p:ext uri="{BB962C8B-B14F-4D97-AF65-F5344CB8AC3E}">
        <p14:creationId xmlns:p14="http://schemas.microsoft.com/office/powerpoint/2010/main" val="420447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NCLUSION AND PRIVACY">
            <a:extLst xmlns:a="http://schemas.openxmlformats.org/drawingml/2006/main">
              <a:ext uri="{FF2B5EF4-FFF2-40B4-BE49-F238E27FC236}">
                <a16:creationId xmlns:a16="http://schemas.microsoft.com/office/drawing/2014/main" id="{A76C1A27-B399-49D4-8525-40B95E5D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INCLUSION AND PRIVACY</a:t>
            </a:r>
          </a:p>
        </p:txBody>
      </p:sp>
      <p:sp>
        <p:nvSpPr>
          <p:cNvPr id="2" name="Learners can bring and keep their practi">
            <a:extLst xmlns:a="http://schemas.openxmlformats.org/drawingml/2006/main">
              <a:ext uri="{FF2B5EF4-FFF2-40B4-BE49-F238E27FC236}">
                <a16:creationId xmlns:a16="http://schemas.microsoft.com/office/drawing/2014/main" id="{A3534843-F265-4279-92C0-ADB8A18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81"/>
          </a:bodyPr>
          <a:lstStyle xmlns:a="http://schemas.openxmlformats.org/drawingml/2006/main">
            <a:def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Learners can bring and keep their practice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9F84D-C8F4-49F0-9498-41767DB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Nova 2026 / StudyPath / 06">
            <a:extLst xmlns:a="http://schemas.openxmlformats.org/drawingml/2006/main">
              <a:ext uri="{FF2B5EF4-FFF2-40B4-BE49-F238E27FC236}">
                <a16:creationId xmlns:a16="http://schemas.microsoft.com/office/drawing/2014/main" id="{DF121964-0882-4B23-9943-F6E284AA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DataNova 2026 / StudyPath / 06</a:t>
            </a:r>
          </a:p>
        </p:txBody>
      </p:sp>
      <p:sp>
        <p:nvSpPr>
          <p:cNvPr id="5" name="Local by default">
            <a:extLst xmlns:a="http://schemas.openxmlformats.org/drawingml/2006/main">
              <a:ext uri="{FF2B5EF4-FFF2-40B4-BE49-F238E27FC236}">
                <a16:creationId xmlns:a16="http://schemas.microsoft.com/office/drawing/2014/main" id="{684E806D-8145-42C5-8A01-C480E97B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Local by default</a:t>
            </a:r>
          </a:p>
        </p:txBody>
      </p:sp>
      <p:sp>
        <p:nvSpPr>
          <p:cNvPr id="6" name="Quiz check-ins save in browser storage. ">
            <a:extLst xmlns:a="http://schemas.openxmlformats.org/drawingml/2006/main">
              <a:ext uri="{FF2B5EF4-FFF2-40B4-BE49-F238E27FC236}">
                <a16:creationId xmlns:a16="http://schemas.microsoft.com/office/drawing/2014/main" id="{65BA788F-E868-47AE-A277-3B19578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572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Quiz check-ins save in browser storage. A learner can export records or import a validated CSV without sending that history to the app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7BF03-9413-4387-A6C4-9669966D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ilt for flexible study">
            <a:extLst xmlns:a="http://schemas.openxmlformats.org/drawingml/2006/main">
              <a:ext uri="{FF2B5EF4-FFF2-40B4-BE49-F238E27FC236}">
                <a16:creationId xmlns:a16="http://schemas.microsoft.com/office/drawing/2014/main" id="{B7D7DFA7-8AA2-48FD-8F83-CCB30E2E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Built for flexible study</a:t>
            </a:r>
          </a:p>
        </p:txBody>
      </p:sp>
      <p:sp>
        <p:nvSpPr>
          <p:cNvPr id="9" name="Set weekly time and session length.&#10;&#10;Use">
            <a:extLst xmlns:a="http://schemas.openxmlformats.org/drawingml/2006/main">
              <a:ext uri="{FF2B5EF4-FFF2-40B4-BE49-F238E27FC236}">
                <a16:creationId xmlns:a16="http://schemas.microsoft.com/office/drawing/2014/main" id="{4251CB63-40AB-4155-B94E-C56D645C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4476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Set weekly time and session length.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Use labeled controls and keyboard-accessible check-ins.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See why each next step was recommended.</a:t>
            </a:r>
          </a:p>
        </p:txBody>
      </p:sp>
      <p:sp>
        <p:nvSpPr>
          <p:cNvPr id="10" name="CSV columns: topicId, score, daysAgo, mi">
            <a:extLst xmlns:a="http://schemas.openxmlformats.org/drawingml/2006/main">
              <a:ext uri="{FF2B5EF4-FFF2-40B4-BE49-F238E27FC236}">
                <a16:creationId xmlns:a16="http://schemas.microsoft.com/office/drawing/2014/main" id="{573AB0CC-EE4C-416C-AE93-F492DDF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CSV columns: topicId, score, daysAgo, minutes. Values and topic IDs are validated before use.</a:t>
            </a:r>
          </a:p>
        </p:txBody>
      </p:sp>
    </p:spTree>
    <p:extLst>
      <p:ext uri="{BB962C8B-B14F-4D97-AF65-F5344CB8AC3E}">
        <p14:creationId xmlns:p14="http://schemas.microsoft.com/office/powerpoint/2010/main" val="2144814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VIDENCE AND NEXT STEP">
            <a:extLst xmlns:a="http://schemas.openxmlformats.org/drawingml/2006/main">
              <a:ext uri="{FF2B5EF4-FFF2-40B4-BE49-F238E27FC236}">
                <a16:creationId xmlns:a16="http://schemas.microsoft.com/office/drawing/2014/main" id="{0A1C8FA5-3DCE-40A5-A341-93667923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EVIDENCE AND NEXT STEP</a:t>
            </a:r>
          </a:p>
        </p:txBody>
      </p:sp>
      <p:sp>
        <p:nvSpPr>
          <p:cNvPr id="2" name="The prototype covers core flows; learnin">
            <a:extLst xmlns:a="http://schemas.openxmlformats.org/drawingml/2006/main">
              <a:ext uri="{FF2B5EF4-FFF2-40B4-BE49-F238E27FC236}">
                <a16:creationId xmlns:a16="http://schemas.microsoft.com/office/drawing/2014/main" id="{191415C1-6592-4092-A5DB-B2622B9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>
            <a:def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2A35"/>
                </a:solidFill>
                <a:latin typeface="Arial"/>
                <a:ea typeface="Arial"/>
                <a:cs typeface="Arial"/>
              </a:rPr>
              <a:t>The prototype covers core flows; learning impact needs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5BFFF-B1E3-4623-9264-FB23E42B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Nova 2026 / StudyPath / 07">
            <a:extLst xmlns:a="http://schemas.openxmlformats.org/drawingml/2006/main">
              <a:ext uri="{FF2B5EF4-FFF2-40B4-BE49-F238E27FC236}">
                <a16:creationId xmlns:a16="http://schemas.microsoft.com/office/drawing/2014/main" id="{08EB6D09-F50C-4860-AAD2-648D86D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DataNova 2026 / StudyPath / 07</a:t>
            </a:r>
          </a:p>
        </p:txBody>
      </p:sp>
      <p:sp>
        <p:nvSpPr>
          <p:cNvPr id="5" name="In the current build">
            <a:extLst xmlns:a="http://schemas.openxmlformats.org/drawingml/2006/main">
              <a:ext uri="{FF2B5EF4-FFF2-40B4-BE49-F238E27FC236}">
                <a16:creationId xmlns:a16="http://schemas.microsoft.com/office/drawing/2014/main" id="{AC26BD92-5C7A-4987-A969-BFCF07EC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In the current build</a:t>
            </a:r>
          </a:p>
        </p:txBody>
      </p:sp>
      <p:sp>
        <p:nvSpPr>
          <p:cNvPr id="6" name="Seven-skill curriculum&#10;Adaptive path rec">
            <a:extLst xmlns:a="http://schemas.openxmlformats.org/drawingml/2006/main">
              <a:ext uri="{FF2B5EF4-FFF2-40B4-BE49-F238E27FC236}">
                <a16:creationId xmlns:a16="http://schemas.microsoft.com/office/drawing/2014/main" id="{07D4FA68-8A7E-44C9-B06F-9440E467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857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Seven-skill curriculum</a:t>
            </a:r>
          </a:p>
          <a:p xmlns:a="http://schemas.openxmlformats.org/drawingml/2006/main">
            <a: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Adaptive path recalculation</a:t>
            </a:r>
          </a:p>
          <a:p xmlns:a="http://schemas.openxmlformats.org/drawingml/2006/main">
            <a: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Local CSV import and export</a:t>
            </a:r>
          </a:p>
          <a:p xmlns:a="http://schemas.openxmlformats.org/drawingml/2006/main">
            <a:pPr algn="l">
              <a:defRPr sz="1800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Optional DeepSeek micro-lesson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B6911-BC08-4566-A92E-98726DC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asure in a learner study">
            <a:extLst xmlns:a="http://schemas.openxmlformats.org/drawingml/2006/main">
              <a:ext uri="{FF2B5EF4-FFF2-40B4-BE49-F238E27FC236}">
                <a16:creationId xmlns:a16="http://schemas.microsoft.com/office/drawing/2014/main" id="{A7FE118A-6D92-4B15-AC78-40494F1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Measure in a learner study</a:t>
            </a:r>
          </a:p>
        </p:txBody>
      </p:sp>
      <p:sp>
        <p:nvSpPr>
          <p:cNvPr id="9" name="Compare adaptive paths with a fixed sequ">
            <a:extLst xmlns:a="http://schemas.openxmlformats.org/drawingml/2006/main">
              <a:ext uri="{FF2B5EF4-FFF2-40B4-BE49-F238E27FC236}">
                <a16:creationId xmlns:a16="http://schemas.microsoft.com/office/drawing/2014/main" id="{41E8FD5F-3385-4288-9165-CAAC0D2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5"/>
                </a:solidFill>
                <a:latin typeface="Arial"/>
                <a:ea typeface="Arial"/>
                <a:cs typeface="Arial"/>
              </a:rPr>
              <a:t>Compare adaptive paths with a fixed sequence. Track pre/post skill-check change, lesson completion, return to practice, and time spent.</a:t>
            </a:r>
          </a:p>
        </p:txBody>
      </p:sp>
      <p:sp>
        <p:nvSpPr>
          <p:cNvPr id="10" name="Current limitation">
            <a:extLst xmlns:a="http://schemas.openxmlformats.org/drawingml/2006/main">
              <a:ext uri="{FF2B5EF4-FFF2-40B4-BE49-F238E27FC236}">
                <a16:creationId xmlns:a16="http://schemas.microsoft.com/office/drawing/2014/main" id="{5E71FEF3-C74C-47A4-BAAB-87FE3D5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69A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69A70"/>
                </a:solidFill>
                <a:latin typeface="Arial"/>
                <a:ea typeface="Arial"/>
                <a:cs typeface="Arial"/>
              </a:rPr>
              <a:t>Current limitation</a:t>
            </a:r>
          </a:p>
        </p:txBody>
      </p:sp>
      <p:sp>
        <p:nvSpPr>
          <p:cNvPr id="11" name="No external learner dataset or outcome s">
            <a:extLst xmlns:a="http://schemas.openxmlformats.org/drawingml/2006/main">
              <a:ext uri="{FF2B5EF4-FFF2-40B4-BE49-F238E27FC236}">
                <a16:creationId xmlns:a16="http://schemas.microsoft.com/office/drawing/2014/main" id="{4D141E93-A74E-464D-92D2-9B19AB89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66C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C73"/>
                </a:solidFill>
                <a:latin typeface="Arial"/>
                <a:ea typeface="Arial"/>
                <a:cs typeface="Arial"/>
              </a:rPr>
              <a:t>No external learner dataset or outcome study has been used. Demo scores are synthetic. No learning gain or performance improvement is claimed.</a:t>
            </a:r>
          </a:p>
        </p:txBody>
      </p:sp>
    </p:spTree>
    <p:extLst>
      <p:ext uri="{BB962C8B-B14F-4D97-AF65-F5344CB8AC3E}">
        <p14:creationId xmlns:p14="http://schemas.microsoft.com/office/powerpoint/2010/main" val="2011896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6E516-E1AE-4C31-A43F-6FF338A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F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UDYPATH  /  DATANOVA EDUCATION">
            <a:extLst xmlns:a="http://schemas.openxmlformats.org/drawingml/2006/main">
              <a:ext uri="{FF2B5EF4-FFF2-40B4-BE49-F238E27FC236}">
                <a16:creationId xmlns:a16="http://schemas.microsoft.com/office/drawing/2014/main" id="{6527B248-2DDD-41B3-A486-72A63F78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F06A"/>
                </a:solidFill>
                <a:latin typeface="Arial"/>
                <a:ea typeface="Arial"/>
                <a:cs typeface="Arial"/>
              </a:rPr>
              <a:t>STUDYPATH  /  DATANOVA EDUCATION</a:t>
            </a:r>
          </a:p>
        </p:txBody>
      </p:sp>
      <p:sp>
        <p:nvSpPr>
          <p:cNvPr id="3" name="A clear next step&#10;for every learner">
            <a:extLst xmlns:a="http://schemas.openxmlformats.org/drawingml/2006/main">
              <a:ext uri="{FF2B5EF4-FFF2-40B4-BE49-F238E27FC236}">
                <a16:creationId xmlns:a16="http://schemas.microsoft.com/office/drawing/2014/main" id="{EC014227-B92E-495B-93E2-0D90B55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next step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every learner</a:t>
            </a:r>
          </a:p>
        </p:txBody>
      </p:sp>
      <p:sp>
        <p:nvSpPr>
          <p:cNvPr id="4" name="Next.js 16  /  TypeScript  /  localStora">
            <a:extLst xmlns:a="http://schemas.openxmlformats.org/drawingml/2006/main">
              <a:ext uri="{FF2B5EF4-FFF2-40B4-BE49-F238E27FC236}">
                <a16:creationId xmlns:a16="http://schemas.microsoft.com/office/drawing/2014/main" id="{736833F6-F337-47BF-9C66-6B745A12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DECE3"/>
                </a:solidFill>
                <a:latin typeface="Arial"/>
                <a:ea typeface="Arial"/>
                <a:cs typeface="Arial"/>
              </a:rPr>
              <a:t>Next.js 16  /  TypeScript  /  localStorage  /  DeepSeek API</a:t>
            </a:r>
          </a:p>
          <a:p xmlns:a="http://schemas.openxmlformats.org/drawingml/2006/main">
            <a:pPr algn="l">
              <a:defRPr sz="1650" b="0">
                <a:solidFill>
                  <a:srgbClr val="CDE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DECE3"/>
                </a:solidFill>
                <a:latin typeface="Arial"/>
                <a:ea typeface="Arial"/>
                <a:cs typeface="Arial"/>
              </a:rPr>
              <a:t>Zod validation  /  authenticated, rate-limited lesson route</a:t>
            </a:r>
          </a:p>
        </p:txBody>
      </p:sp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58B8DDF3-4157-40B0-B8BC-93A037E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F06A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6" name="https://lifeos-nine-neon.vercel.app/logi">
            <a:extLst xmlns:a="http://schemas.openxmlformats.org/drawingml/2006/main">
              <a:ext uri="{FF2B5EF4-FFF2-40B4-BE49-F238E27FC236}">
                <a16:creationId xmlns:a16="http://schemas.microsoft.com/office/drawing/2014/main" id="{69ED4565-4659-4B18-93F3-CC187C6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eca608da37f2444b"/>
              </a:rPr>
              <a:t>https://lifeos-nine-neon.vercel.app/login</a:t>
            </a:r>
          </a:p>
        </p:txBody>
      </p:sp>
      <p:sp>
        <p:nvSpPr>
          <p:cNvPr id="7" name="Choose “Try the demo”, then open StudyPa">
            <a:extLst xmlns:a="http://schemas.openxmlformats.org/drawingml/2006/main">
              <a:ext uri="{FF2B5EF4-FFF2-40B4-BE49-F238E27FC236}">
                <a16:creationId xmlns:a16="http://schemas.microsoft.com/office/drawing/2014/main" id="{9AD00B82-55F4-468D-8401-34800CA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1D0D2"/>
                </a:solidFill>
                <a:latin typeface="Arial"/>
                <a:ea typeface="Arial"/>
                <a:cs typeface="Arial"/>
              </a:rPr>
              <a:t>Choose “Try the demo”, then open StudyPath from the app navigation.</a:t>
            </a:r>
          </a:p>
        </p:txBody>
      </p:sp>
      <p:sp>
        <p:nvSpPr>
          <p:cNvPr id="8" name="StudyPath is new DataNova work built on ">
            <a:extLst xmlns:a="http://schemas.openxmlformats.org/drawingml/2006/main">
              <a:ext uri="{FF2B5EF4-FFF2-40B4-BE49-F238E27FC236}">
                <a16:creationId xmlns:a16="http://schemas.microsoft.com/office/drawing/2014/main" id="{F8AF81E5-A264-47E9-B37D-412E7E3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4F0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4F06A"/>
                </a:solidFill>
                <a:latin typeface="Arial"/>
                <a:ea typeface="Arial"/>
                <a:cs typeface="Arial"/>
              </a:rPr>
              <a:t>StudyPath is new DataNova work built on the pre-existing LifeOS codebase.</a:t>
            </a:r>
          </a:p>
        </p:txBody>
      </p:sp>
      <p:sp>
        <p:nvSpPr>
          <p:cNvPr id="9" name="Repository: github.com/thato899/lifeos">
            <a:extLst xmlns:a="http://schemas.openxmlformats.org/drawingml/2006/main">
              <a:ext uri="{FF2B5EF4-FFF2-40B4-BE49-F238E27FC236}">
                <a16:creationId xmlns:a16="http://schemas.microsoft.com/office/drawing/2014/main" id="{0807BA88-BCA4-4D06-8AAD-1B6868C6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1D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1D0D2"/>
                </a:solidFill>
                <a:latin typeface="Arial"/>
                <a:ea typeface="Arial"/>
                <a:cs typeface="Arial"/>
              </a:rPr>
              <a:t>Repository: github.com/thato899/lifeos</a:t>
            </a:r>
          </a:p>
        </p:txBody>
      </p:sp>
    </p:spTree>
    <p:extLst>
      <p:ext uri="{BB962C8B-B14F-4D97-AF65-F5344CB8AC3E}">
        <p14:creationId xmlns:p14="http://schemas.microsoft.com/office/powerpoint/2010/main" val="828413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2026-10-26T21:44:03.4540000Z</dcterms:created>
  <dcterms:modified xsi:type="dcterms:W3CDTF">2026-10-26T21:44:03.4540000Z</dcterms:modified>
</coreProperties>
</file>